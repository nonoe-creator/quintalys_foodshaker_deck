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Entrée lente atmosphérique. Blob vert → ligne or → titre → divider + sous-titre → nom → logo. Durée: 800ms/élément. Ton immersif.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Panneau gauche (pharma) → Panneau droit (food) → Formes pharmaceutiques → Formes végétales → Divider central → Question finale. Émotion: questionnement.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Titre → Hub central → Chaque satellite séquentiellement (clic par clic). Le schéma respire. Style éditorial scientifique.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Titre → Étape 1 (box+num+header+desc) → Flèche → Étape 2 → Flèche → Étape 3. Progression gauche→droite stricte. Très démonstratif.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Hero zone → KORIUM grand texte → Sous-titre → Callout 1 → Callout 2 → Callout 3. Focus progressif sur le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Titre → Carte 1 → Carte 2 → Carte 3. Révélation colonne par colonne, très lisible.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Titre → Quadrants → Axes → Concurrents → KORIUM (dernier, dominant). Le blanc autour de KORIUM = espace stratégique libre.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Titre → Colonne 1 → 2 → 3 → 4 → Phrase finale forte. Lecture guidée, pas de surcharge.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Titre → Carte Marché → Carte Cible → Carte Usage. Business crédible, pas de graphique TAM/SAM/SOM.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Titre → Sous-titre → Pilier 1 → Pilier 2 → Pilier 3. Apparition pilier par pilier. Design ISARA-compatible, sobre et institutionnel.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Blobs botaniques → Overlay → Ligne top → Texte (très lente, 1200ms). Fin silencieuse. La dernière slide = signature émotionnelle.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731520"/>
            <a:ext cx="6858000" cy="5669280"/>
          </a:xfrm>
          <a:prstGeom prst="ellipse">
            <a:avLst/>
          </a:prstGeom>
          <a:solidFill>
            <a:srgbClr val="14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731520"/>
            <a:ext cx="5029200" cy="6583680"/>
          </a:xfrm>
          <a:prstGeom prst="ellipse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6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0352" y="1005840"/>
            <a:ext cx="0" cy="4846320"/>
          </a:xfrm>
          <a:prstGeom prst="line">
            <a:avLst/>
          </a:prstGeom>
          <a:ln w="2540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18872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D5A3"/>
                </a:solidFill>
                <a:latin typeface="Palatino Linotype"/>
              </a:rPr>
              <a:t>QUINTALYS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2880360"/>
            <a:ext cx="448056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301752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0EBE1"/>
                </a:solidFill>
                <a:latin typeface="Palatino Linotype"/>
              </a:rPr>
              <a:t>Réhabiliter la cuisine</a:t>
            </a:r>
          </a:p>
          <a:p>
            <a:pPr algn="l"/>
            <a:r>
              <a:rPr sz="2600" b="0">
                <a:solidFill>
                  <a:srgbClr val="E8D5A3"/>
                </a:solidFill>
                <a:latin typeface="Palatino Linotype"/>
              </a:rPr>
              <a:t>comme terrain de formulation culinaire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28282"/>
                </a:solidFill>
                <a:latin typeface="Calibri Light"/>
              </a:rPr>
              <a:t>Noelly Sterlin  ·  ISARA Foodshaker 2026</a:t>
            </a:r>
          </a:p>
        </p:txBody>
      </p:sp>
      <p:sp>
        <p:nvSpPr>
          <p:cNvPr id="10" name="Oval 9"/>
          <p:cNvSpPr/>
          <p:nvPr/>
        </p:nvSpPr>
        <p:spPr>
          <a:xfrm>
            <a:off x="10607040" y="5349240"/>
            <a:ext cx="804672" cy="80467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3035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0B0F"/>
                </a:solidFill>
                <a:latin typeface="Palatino Linotype"/>
              </a:rPr>
              <a:t>Q</a:t>
            </a:r>
          </a:p>
        </p:txBody>
      </p:sp>
    </p:spTree>
  </p:cSld>
  <p:clrMapOvr>
    <a:masterClrMapping/>
  </p:clrMapOvr>
  <p:timing>
    <p:tnLst>
      <p:par>
        <p:cTn id="540" dur="indefinite" restart="whenNotActive" nodeType="tmRoot">
          <p:childTnLst>
            <p:seq concurrent="1" nextAc="seek">
              <p:cTn id="541" dur="indefinite" nodeType="mainSeq">
                <p:childTnLst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" dur="8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7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1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5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8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9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3" dur="8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6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7" dur="8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0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1" dur="8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4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5" dur="8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9" dur="8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  <p:bldP spid="9" grpId="7" uiExpand="1" build="p"/>
      <p:bldP spid="10" grpId="8" uiExpand="1" build="p"/>
      <p:bldP spid="11" grpId="9" uiExpand="1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C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14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094476" y="274320"/>
            <a:ext cx="0" cy="6309360"/>
          </a:xfrm>
          <a:prstGeom prst="line">
            <a:avLst/>
          </a:prstGeom>
          <a:ln w="1270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97280"/>
            <a:ext cx="1280160" cy="502920"/>
          </a:xfrm>
          <a:prstGeom prst="ellipse">
            <a:avLst/>
          </a:prstGeom>
          <a:solidFill>
            <a:srgbClr val="485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60320" y="914400"/>
            <a:ext cx="1280160" cy="502920"/>
          </a:xfrm>
          <a:prstGeom prst="ellipse">
            <a:avLst/>
          </a:prstGeom>
          <a:solidFill>
            <a:srgbClr val="485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828800"/>
            <a:ext cx="1280160" cy="502920"/>
          </a:xfrm>
          <a:prstGeom prst="ellipse">
            <a:avLst/>
          </a:prstGeom>
          <a:solidFill>
            <a:srgbClr val="485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0" y="2011680"/>
            <a:ext cx="822960" cy="822960"/>
          </a:xfrm>
          <a:prstGeom prst="ellipse">
            <a:avLst/>
          </a:prstGeom>
          <a:solidFill>
            <a:srgbClr val="30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834640"/>
            <a:ext cx="1005840" cy="1005840"/>
          </a:xfrm>
          <a:prstGeom prst="ellipse">
            <a:avLst/>
          </a:prstGeom>
          <a:solidFill>
            <a:srgbClr val="2A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589E"/>
                </a:solidFill>
                <a:latin typeface="Calibri Light"/>
              </a:rPr>
              <a:t>COMPLÉMENT</a:t>
            </a:r>
          </a:p>
          <a:p>
            <a:pPr algn="ctr"/>
            <a:r>
              <a:rPr sz="1100" b="0">
                <a:solidFill>
                  <a:srgbClr val="48589E"/>
                </a:solidFill>
                <a:latin typeface="Calibri Light"/>
              </a:rPr>
              <a:t>ALIMENTAIRE</a:t>
            </a:r>
          </a:p>
          <a:p>
            <a:pPr algn="ctr"/>
          </a:p>
          <a:p>
            <a:pPr algn="ctr"/>
            <a:r>
              <a:rPr sz="1000" b="0">
                <a:solidFill>
                  <a:srgbClr val="828282"/>
                </a:solidFill>
                <a:latin typeface="Calibri Light"/>
              </a:rPr>
              <a:t>gélules · poudres · routine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731520"/>
            <a:ext cx="2011680" cy="2011680"/>
          </a:xfrm>
          <a:prstGeom prst="ellipse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0" y="1097280"/>
            <a:ext cx="1463040" cy="1463040"/>
          </a:xfrm>
          <a:prstGeom prst="ellipse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79" y="2560320"/>
            <a:ext cx="1645920" cy="1645920"/>
          </a:xfrm>
          <a:prstGeom prst="ellipse">
            <a:avLst/>
          </a:prstGeom>
          <a:solidFill>
            <a:srgbClr val="35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0" y="2286000"/>
            <a:ext cx="2011680" cy="2011680"/>
          </a:xfrm>
          <a:prstGeom prst="ellipse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56A52"/>
                </a:solidFill>
                <a:latin typeface="Calibri Light"/>
              </a:rPr>
              <a:t>CUISINE</a:t>
            </a:r>
          </a:p>
          <a:p>
            <a:pPr algn="ctr"/>
            <a:r>
              <a:rPr sz="1100" b="0">
                <a:solidFill>
                  <a:srgbClr val="356A52"/>
                </a:solidFill>
                <a:latin typeface="Calibri Light"/>
              </a:rPr>
              <a:t>FONCTIONNELLE</a:t>
            </a:r>
          </a:p>
          <a:p>
            <a:pPr algn="ctr"/>
          </a:p>
          <a:p>
            <a:pPr algn="ctr"/>
            <a:r>
              <a:rPr sz="1000" b="0">
                <a:solidFill>
                  <a:srgbClr val="828282"/>
                </a:solidFill>
                <a:latin typeface="Calibri Light"/>
              </a:rPr>
              <a:t>repas · cuisson · végétal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4663440"/>
            <a:ext cx="8138160" cy="1737360"/>
          </a:xfrm>
          <a:prstGeom prst="rect">
            <a:avLst/>
          </a:prstGeom>
          <a:solidFill>
            <a:srgbClr val="080912"/>
          </a:solidFill>
          <a:ln w="63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84632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D5A3"/>
                </a:solidFill>
                <a:latin typeface="Palatino Linotype"/>
              </a:rPr>
              <a:t>Et si la fonctionnalité était progressivement sortie du repas ?</a:t>
            </a:r>
          </a:p>
        </p:txBody>
      </p:sp>
    </p:spTree>
  </p:cSld>
  <p:clrMapOvr>
    <a:masterClrMapping/>
  </p:clrMapOvr>
  <p:timing>
    <p:tnLst>
      <p:par>
        <p:cTn id="606" dur="indefinite" restart="whenNotActive" nodeType="tmRoot">
          <p:childTnLst>
            <p:seq concurrent="1" nextAc="seek">
              <p:cTn id="607" dur="indefinite" nodeType="mainSeq">
                <p:childTnLst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4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3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0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1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indefinite"/>
                      </p:stCondLst>
                      <p:childTnLst>
                        <p:par>
                          <p:cTn id="563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4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5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>
                      <p:stCondLst>
                        <p:cond delay="indefinite"/>
                      </p:stCondLst>
                      <p:childTnLst>
                        <p:par>
                          <p:cTn id="567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8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9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3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6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indefinite"/>
                      </p:stCondLst>
                      <p:childTnLst>
                        <p:par>
                          <p:cTn id="579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0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1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5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8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9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0" fill="hold">
                      <p:stCondLst>
                        <p:cond delay="indefinite"/>
                      </p:stCondLst>
                      <p:childTnLst>
                        <p:par>
                          <p:cTn id="591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3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6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indefinite"/>
                      </p:stCondLst>
                      <p:childTnLst>
                        <p:par>
                          <p:cTn id="603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5" grpId="2" uiExpand="1" build="p"/>
      <p:bldP spid="6" grpId="3" uiExpand="1" build="p"/>
      <p:bldP spid="7" grpId="4" uiExpand="1" build="p"/>
      <p:bldP spid="8" grpId="5" uiExpand="1" build="p"/>
      <p:bldP spid="9" grpId="6" uiExpand="1" build="p"/>
      <p:bldP spid="10" grpId="7" uiExpand="1" build="p"/>
      <p:bldP spid="11" grpId="8" uiExpand="1" build="p"/>
      <p:bldP spid="12" grpId="9" uiExpand="1" build="p"/>
      <p:bldP spid="13" grpId="10" uiExpand="1" build="p"/>
      <p:bldP spid="14" grpId="11" uiExpand="1" build="p"/>
      <p:bldP spid="15" grpId="12" uiExpand="1" build="p"/>
      <p:bldP spid="4" grpId="13" uiExpand="1" build="p"/>
      <p:bldP spid="16" grpId="14" uiExpand="1" build="p"/>
      <p:bldP spid="17" grpId="15" uiExpand="1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106344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E8D5A3"/>
                </a:solidFill>
                <a:latin typeface="Palatino Linotype"/>
              </a:rPr>
              <a:t>La cuisine n'est pas neutre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00400" y="1234440"/>
            <a:ext cx="5788152" cy="0"/>
          </a:xfrm>
          <a:prstGeom prst="line">
            <a:avLst/>
          </a:prstGeom>
          <a:ln w="635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480560" y="1920240"/>
            <a:ext cx="2103120" cy="2103120"/>
          </a:xfrm>
          <a:prstGeom prst="ellipse">
            <a:avLst/>
          </a:prstGeom>
          <a:solidFill>
            <a:srgbClr val="204030"/>
          </a:solidFill>
          <a:ln w="1524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2587752"/>
            <a:ext cx="2103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D5A3"/>
                </a:solidFill>
                <a:latin typeface="Calibri Light"/>
              </a:rPr>
              <a:t>MATRICE
ALIMENTAIRE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514600.0" y="2194560.0"/>
            <a:ext cx="3017520.0" cy="777240.0"/>
          </a:xfrm>
          <a:prstGeom prst="line">
            <a:avLst/>
          </a:prstGeom>
          <a:ln w="762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28800" y="1828800"/>
            <a:ext cx="1371600" cy="731520"/>
          </a:xfrm>
          <a:prstGeom prst="ellipse">
            <a:avLst/>
          </a:prstGeom>
          <a:solidFill>
            <a:srgbClr val="14261C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  <a:latin typeface="Calibri Light"/>
              </a:rPr>
              <a:t>Chaleur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4526280.0" y="1280160.0"/>
            <a:ext cx="1005840.0" cy="1691640.0"/>
          </a:xfrm>
          <a:prstGeom prst="line">
            <a:avLst/>
          </a:prstGeom>
          <a:ln w="762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840480" y="914400"/>
            <a:ext cx="1371600" cy="731520"/>
          </a:xfrm>
          <a:prstGeom prst="ellipse">
            <a:avLst/>
          </a:prstGeom>
          <a:solidFill>
            <a:srgbClr val="14261C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914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  <a:latin typeface="Calibri Light"/>
              </a:rPr>
              <a:t>Eau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532120" y="1463040.0"/>
            <a:ext cx="2926080.0" cy="1508760.0"/>
          </a:xfrm>
          <a:prstGeom prst="line">
            <a:avLst/>
          </a:prstGeom>
          <a:ln w="762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0" y="1097280"/>
            <a:ext cx="1371600" cy="731520"/>
          </a:xfrm>
          <a:prstGeom prst="ellipse">
            <a:avLst/>
          </a:prstGeom>
          <a:solidFill>
            <a:srgbClr val="14261C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097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  <a:latin typeface="Calibri Light"/>
              </a:rPr>
              <a:t>Broyage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32120" y="2971800"/>
            <a:ext cx="4297680.0" cy="502920.0"/>
          </a:xfrm>
          <a:prstGeom prst="line">
            <a:avLst/>
          </a:prstGeom>
          <a:ln w="762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0" y="3108960"/>
            <a:ext cx="1371600" cy="731520"/>
          </a:xfrm>
          <a:prstGeom prst="ellipse">
            <a:avLst/>
          </a:prstGeom>
          <a:solidFill>
            <a:srgbClr val="14261C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108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  <a:latin typeface="Calibri Light"/>
              </a:rPr>
              <a:t>Associations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886200.0" y="2971800"/>
            <a:ext cx="1645920.0" cy="2331720.0"/>
          </a:xfrm>
          <a:prstGeom prst="line">
            <a:avLst/>
          </a:prstGeom>
          <a:ln w="762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200400" y="4937760"/>
            <a:ext cx="1371600" cy="731520"/>
          </a:xfrm>
          <a:prstGeom prst="ellipse">
            <a:avLst/>
          </a:prstGeom>
          <a:solidFill>
            <a:srgbClr val="14261C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937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  <a:latin typeface="Calibri Light"/>
              </a:rPr>
              <a:t>Cuisson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1264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28282"/>
                </a:solidFill>
                <a:latin typeface="Calibri Light"/>
              </a:rPr>
              <a:t>Chaque paramètre de préparation module la disponibilité fonctionnelle des composés.</a:t>
            </a:r>
          </a:p>
        </p:txBody>
      </p:sp>
    </p:spTree>
  </p:cSld>
  <p:clrMapOvr>
    <a:masterClrMapping/>
  </p:clrMapOvr>
  <p:timing>
    <p:tnLst>
      <p:par>
        <p:cTn id="688" dur="indefinite" restart="whenNotActive" nodeType="tmRoot">
          <p:childTnLst>
            <p:seq concurrent="1" nextAc="seek">
              <p:cTn id="689" dur="indefinite" nodeType="mainSeq">
                <p:childTnLst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indefinite"/>
                      </p:stCondLst>
                      <p:childTnLst>
                        <p:par>
                          <p:cTn id="617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8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9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3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0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1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4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5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indefinite"/>
                      </p:stCondLst>
                      <p:childTnLst>
                        <p:par>
                          <p:cTn id="637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8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9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3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6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0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1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indefinite"/>
                      </p:stCondLst>
                      <p:childTnLst>
                        <p:par>
                          <p:cTn id="653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5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indefinite"/>
                      </p:stCondLst>
                      <p:childTnLst>
                        <p:par>
                          <p:cTn id="657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8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9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3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4" fill="hold">
                      <p:stCondLst>
                        <p:cond delay="indefinite"/>
                      </p:stCondLst>
                      <p:childTnLst>
                        <p:par>
                          <p:cTn id="665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6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7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0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1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presetID="10" presetClass="entr" presetSubtype="0" fill="hold" grpId="1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4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5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presetID="10" presetClass="entr" presetSubtype="0" fill="hold" grpId="1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8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9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>
                      <p:stCondLst>
                        <p:cond delay="indefinite"/>
                      </p:stCondLst>
                      <p:childTnLst>
                        <p:par>
                          <p:cTn id="681" presetID="10" presetClass="entr" presetSubtype="0" fill="hold" grpId="1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83" dur="6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presetID="10" presetClass="entr" presetSubtype="0" fill="hold" grpId="1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6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87" dur="6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  <p:bldP spid="9" grpId="7" uiExpand="1" build="p"/>
      <p:bldP spid="10" grpId="8" uiExpand="1" build="p"/>
      <p:bldP spid="11" grpId="9" uiExpand="1" build="p"/>
      <p:bldP spid="12" grpId="10" uiExpand="1" build="p"/>
      <p:bldP spid="13" grpId="11" uiExpand="1" build="p"/>
      <p:bldP spid="14" grpId="12" uiExpand="1" build="p"/>
      <p:bldP spid="15" grpId="13" uiExpand="1" build="p"/>
      <p:bldP spid="16" grpId="14" uiExpand="1" build="p"/>
      <p:bldP spid="17" grpId="15" uiExpand="1" build="p"/>
      <p:bldP spid="18" grpId="16" uiExpand="1" build="p"/>
      <p:bldP spid="19" grpId="17" uiExpand="1" build="p"/>
      <p:bldP spid="20" grpId="18" uiExpand="1" build="p"/>
      <p:bldP spid="21" grpId="19" uiExpand="1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8D5A3"/>
                </a:solidFill>
                <a:latin typeface="Palatino Linotype"/>
              </a:rPr>
              <a:t>Infuser  ·  Cuire  ·  Agrémenter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1234440"/>
            <a:ext cx="6702552" cy="0"/>
          </a:xfrm>
          <a:prstGeom prst="line">
            <a:avLst/>
          </a:prstGeom>
          <a:ln w="635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554480"/>
            <a:ext cx="3017520" cy="3840480"/>
          </a:xfrm>
          <a:prstGeom prst="rect">
            <a:avLst/>
          </a:prstGeom>
          <a:solidFill>
            <a:srgbClr val="14261C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96E"/>
                </a:solidFill>
                <a:latin typeface="Palatino Linotyp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D5A3"/>
                </a:solidFill>
                <a:latin typeface="Palatino Linotype"/>
              </a:rPr>
              <a:t>KORIUM + 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BE1"/>
                </a:solidFill>
                <a:latin typeface="Calibri Light"/>
              </a:rPr>
              <a:t>Versez dans l'eau
de cuisson froide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40" y="3474720.0"/>
            <a:ext cx="502920" cy="0.0"/>
          </a:xfrm>
          <a:prstGeom prst="line">
            <a:avLst/>
          </a:prstGeom>
          <a:ln w="2540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0" y="1554480"/>
            <a:ext cx="3017520" cy="3840480"/>
          </a:xfrm>
          <a:prstGeom prst="rect">
            <a:avLst/>
          </a:prstGeom>
          <a:solidFill>
            <a:srgbClr val="204030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96E"/>
                </a:solidFill>
                <a:latin typeface="Palatino Linotyp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D5A3"/>
                </a:solidFill>
                <a:latin typeface="Palatino Linotype"/>
              </a:rPr>
              <a:t>Infusion-Cuisson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BE1"/>
                </a:solidFill>
                <a:latin typeface="Calibri Light"/>
              </a:rPr>
              <a:t>Chaleur progressive
→ diffusion des composés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3474720.0"/>
            <a:ext cx="502920" cy="0.0"/>
          </a:xfrm>
          <a:prstGeom prst="line">
            <a:avLst/>
          </a:prstGeom>
          <a:ln w="2540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0" y="1554480"/>
            <a:ext cx="3017520" cy="3840480"/>
          </a:xfrm>
          <a:prstGeom prst="rect">
            <a:avLst/>
          </a:prstGeom>
          <a:solidFill>
            <a:srgbClr val="28503C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96E"/>
                </a:solidFill>
                <a:latin typeface="Palatino Linotyp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D5A3"/>
                </a:solidFill>
                <a:latin typeface="Palatino Linotype"/>
              </a:rPr>
              <a:t>Matrice Imprégnée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BE1"/>
                </a:solidFill>
                <a:latin typeface="Calibri Light"/>
              </a:rPr>
              <a:t>Céréales · légumineuses
· légumes enrichis</a:t>
            </a:r>
          </a:p>
        </p:txBody>
      </p:sp>
    </p:spTree>
  </p:cSld>
  <p:clrMapOvr>
    <a:masterClrMapping/>
  </p:clrMapOvr>
  <p:timing>
    <p:tnLst>
      <p:par>
        <p:cTn id="754" dur="indefinite" restart="whenNotActive" nodeType="tmRoot">
          <p:childTnLst>
            <p:seq concurrent="1" nextAc="seek">
              <p:cTn id="755" dur="indefinite" nodeType="mainSeq">
                <p:childTnLst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2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3" dur="5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4" fill="hold">
                      <p:stCondLst>
                        <p:cond delay="indefinite"/>
                      </p:stCondLst>
                      <p:childTnLst>
                        <p:par>
                          <p:cTn id="695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6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7" dur="5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8" fill="hold">
                      <p:stCondLst>
                        <p:cond delay="indefinite"/>
                      </p:stCondLst>
                      <p:childTnLst>
                        <p:par>
                          <p:cTn id="699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1" dur="5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indefinite"/>
                      </p:stCondLst>
                      <p:childTnLst>
                        <p:par>
                          <p:cTn id="703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5" dur="5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6" fill="hold">
                      <p:stCondLst>
                        <p:cond delay="indefinite"/>
                      </p:stCondLst>
                      <p:childTnLst>
                        <p:par>
                          <p:cTn id="707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8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9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indefinite"/>
                      </p:stCondLst>
                      <p:childTnLst>
                        <p:par>
                          <p:cTn id="711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3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4" fill="hold">
                      <p:stCondLst>
                        <p:cond delay="indefinite"/>
                      </p:stCondLst>
                      <p:childTnLst>
                        <p:par>
                          <p:cTn id="715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6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7" dur="5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8" fill="hold">
                      <p:stCondLst>
                        <p:cond delay="indefinite"/>
                      </p:stCondLst>
                      <p:childTnLst>
                        <p:par>
                          <p:cTn id="719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0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1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2" fill="hold">
                      <p:stCondLst>
                        <p:cond delay="indefinite"/>
                      </p:stCondLst>
                      <p:childTnLst>
                        <p:par>
                          <p:cTn id="723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4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5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9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0" fill="hold">
                      <p:stCondLst>
                        <p:cond delay="indefinite"/>
                      </p:stCondLst>
                      <p:childTnLst>
                        <p:par>
                          <p:cTn id="731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3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>
                      <p:stCondLst>
                        <p:cond delay="indefinite"/>
                      </p:stCondLst>
                      <p:childTnLst>
                        <p:par>
                          <p:cTn id="735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6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7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38" fill="hold">
                      <p:stCondLst>
                        <p:cond delay="indefinite"/>
                      </p:stCondLst>
                      <p:childTnLst>
                        <p:par>
                          <p:cTn id="739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0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1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indefinite"/>
                      </p:stCondLst>
                      <p:childTnLst>
                        <p:par>
                          <p:cTn id="743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5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6" fill="hold">
                      <p:stCondLst>
                        <p:cond delay="indefinite"/>
                      </p:stCondLst>
                      <p:childTnLst>
                        <p:par>
                          <p:cTn id="747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8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9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0" fill="hold">
                      <p:stCondLst>
                        <p:cond delay="indefinite"/>
                      </p:stCondLst>
                      <p:childTnLst>
                        <p:par>
                          <p:cTn id="751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2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3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  <p:bldP spid="9" grpId="7" uiExpand="1" build="p"/>
      <p:bldP spid="10" grpId="8" uiExpand="1" build="p"/>
      <p:bldP spid="11" grpId="9" uiExpand="1" build="p"/>
      <p:bldP spid="12" grpId="10" uiExpand="1" build="p"/>
      <p:bldP spid="13" grpId="11" uiExpand="1" build="p"/>
      <p:bldP spid="14" grpId="12" uiExpand="1" build="p"/>
      <p:bldP spid="15" grpId="13" uiExpand="1" build="p"/>
      <p:bldP spid="16" grpId="14" uiExpand="1" build="p"/>
      <p:bldP spid="17" grpId="15" uiExpand="1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14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6400800" cy="5486400"/>
          </a:xfrm>
          <a:prstGeom prst="ellipse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457200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457200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0" y="457200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457200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457200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498348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498348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86000" y="498348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0" y="498348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0" y="498348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0" y="498348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9496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0" y="539496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0" y="539496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00400" y="539496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0" y="539496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0" y="539496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" y="580644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0" y="580644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86000" y="580644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00400" y="580644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14800" y="580644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5806440"/>
            <a:ext cx="164592" cy="164592"/>
          </a:xfrm>
          <a:prstGeom prst="ellipse">
            <a:avLst/>
          </a:prstGeom>
          <a:solidFill>
            <a:srgbClr val="306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164592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E8D5A3"/>
                </a:solidFill>
                <a:latin typeface="Palatino Linotype"/>
              </a:rPr>
              <a:t>KORIUM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747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5F0E8"/>
                </a:solidFill>
                <a:latin typeface="Calibri Light"/>
              </a:rPr>
              <a:t>Le condiment de formulation culinaire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4251960"/>
            <a:ext cx="4572000" cy="0"/>
          </a:xfrm>
          <a:prstGeom prst="line">
            <a:avLst/>
          </a:prstGeom>
          <a:ln w="762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Calibri Light"/>
              </a:rPr>
              <a:t>by QUINTALYS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914400"/>
            <a:ext cx="4480560" cy="1554480"/>
          </a:xfrm>
          <a:prstGeom prst="rect">
            <a:avLst/>
          </a:prstGeom>
          <a:solidFill>
            <a:srgbClr val="12131C"/>
          </a:solidFill>
          <a:ln w="6350">
            <a:solidFill>
              <a:srgbClr val="7A6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406640" y="932688"/>
            <a:ext cx="0" cy="1499616"/>
          </a:xfrm>
          <a:prstGeom prst="line">
            <a:avLst/>
          </a:prstGeom>
          <a:ln w="3810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26679" y="10789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D5A3"/>
                </a:solidFill>
                <a:latin typeface="Calibri"/>
              </a:rPr>
              <a:t>INFUSION-CUISSON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1536192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Actif pendant la préparation,
non après.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788919"/>
            <a:ext cx="4480560" cy="1554480"/>
          </a:xfrm>
          <a:prstGeom prst="rect">
            <a:avLst/>
          </a:prstGeom>
          <a:solidFill>
            <a:srgbClr val="12131C"/>
          </a:solidFill>
          <a:ln w="6350">
            <a:solidFill>
              <a:srgbClr val="7A6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7406640" y="2807207"/>
            <a:ext cx="0" cy="1499616"/>
          </a:xfrm>
          <a:prstGeom prst="line">
            <a:avLst/>
          </a:prstGeom>
          <a:ln w="3810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26679" y="295351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D5A3"/>
                </a:solidFill>
                <a:latin typeface="Calibri"/>
              </a:rPr>
              <a:t>MATRICE VÉGÉTALE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3410711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Céréales · légumineuses
· végétaux de cuisson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663438"/>
            <a:ext cx="4480560" cy="1554480"/>
          </a:xfrm>
          <a:prstGeom prst="rect">
            <a:avLst/>
          </a:prstGeom>
          <a:solidFill>
            <a:srgbClr val="12131C"/>
          </a:solidFill>
          <a:ln w="6350">
            <a:solidFill>
              <a:srgbClr val="7A6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06640" y="4681726"/>
            <a:ext cx="0" cy="1499616"/>
          </a:xfrm>
          <a:prstGeom prst="line">
            <a:avLst/>
          </a:prstGeom>
          <a:ln w="3810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26679" y="482803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D5A3"/>
                </a:solidFill>
                <a:latin typeface="Calibri"/>
              </a:rPr>
              <a:t>CONDIMENT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528523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Geste simple intégré
au quotidien culinaire</a:t>
            </a:r>
          </a:p>
        </p:txBody>
      </p:sp>
    </p:spTree>
  </p:cSld>
  <p:clrMapOvr>
    <a:masterClrMapping/>
  </p:clrMapOvr>
  <p:timing>
    <p:tnLst>
      <p:par>
        <p:cTn id="780" dur="indefinite" restart="whenNotActive" nodeType="tmRoot">
          <p:childTnLst>
            <p:seq concurrent="1" nextAc="seek">
              <p:cTn id="781" dur="indefinite" nodeType="mainSeq">
                <p:childTnLst>
                  <p:par>
                    <p:cTn id="756" fill="hold">
                      <p:stCondLst>
                        <p:cond delay="indefinite"/>
                      </p:stCondLst>
                      <p:childTnLst>
                        <p:par>
                          <p:cTn id="75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8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9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0" fill="hold">
                      <p:stCondLst>
                        <p:cond delay="indefinite"/>
                      </p:stCondLst>
                      <p:childTnLst>
                        <p:par>
                          <p:cTn id="761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4" fill="hold">
                      <p:stCondLst>
                        <p:cond delay="indefinite"/>
                      </p:stCondLst>
                      <p:childTnLst>
                        <p:par>
                          <p:cTn id="765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6" dur="1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7" dur="7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8" fill="hold">
                      <p:stCondLst>
                        <p:cond delay="indefinite"/>
                      </p:stCondLst>
                      <p:childTnLst>
                        <p:par>
                          <p:cTn id="769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0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1" dur="7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>
                      <p:stCondLst>
                        <p:cond delay="indefinite"/>
                      </p:stCondLst>
                      <p:childTnLst>
                        <p:par>
                          <p:cTn id="773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4" dur="1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5" dur="7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6" fill="hold">
                      <p:stCondLst>
                        <p:cond delay="indefinite"/>
                      </p:stCondLst>
                      <p:childTnLst>
                        <p:par>
                          <p:cTn id="777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8" dur="1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9" dur="7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28" grpId="2" uiExpand="1" build="p"/>
      <p:bldP spid="29" grpId="3" uiExpand="1" build="p"/>
      <p:bldP spid="30" grpId="4" uiExpand="1" build="p"/>
      <p:bldP spid="31" grpId="5" uiExpand="1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8D5A3"/>
                </a:solidFill>
                <a:latin typeface="Palatino Linotype"/>
              </a:rPr>
              <a:t>Un usage accessible, un geste intégré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00400" y="1143000"/>
            <a:ext cx="5788152" cy="0"/>
          </a:xfrm>
          <a:prstGeom prst="line">
            <a:avLst/>
          </a:prstGeom>
          <a:ln w="635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77240" y="1371600"/>
            <a:ext cx="3474720" cy="5029200"/>
          </a:xfrm>
          <a:prstGeom prst="rect">
            <a:avLst/>
          </a:prstGeom>
          <a:solidFill>
            <a:srgbClr val="12131C"/>
          </a:solidFill>
          <a:ln w="635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34747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8D5A3"/>
                </a:solidFill>
                <a:latin typeface="Palatino Linotype"/>
              </a:rPr>
              <a:t>200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 Light"/>
              </a:rPr>
              <a:t>par format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3794760"/>
            <a:ext cx="237744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4023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EBE1"/>
                </a:solidFill>
                <a:latin typeface="Calibri Light"/>
              </a:rPr>
              <a:t>Conditionnement standard
pour 1 à 2 semaines d'usage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1728" y="1371600"/>
            <a:ext cx="3474720" cy="5029200"/>
          </a:xfrm>
          <a:prstGeom prst="rect">
            <a:avLst/>
          </a:prstGeom>
          <a:solidFill>
            <a:srgbClr val="12131C"/>
          </a:solidFill>
          <a:ln w="635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1728" y="1371600"/>
            <a:ext cx="34747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8D5A3"/>
                </a:solidFill>
                <a:latin typeface="Palatino Linotype"/>
              </a:rPr>
              <a:t>12–16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 Light"/>
              </a:rPr>
              <a:t>plats / format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30368" y="3794760"/>
            <a:ext cx="237744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56048" y="4023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EBE1"/>
                </a:solidFill>
                <a:latin typeface="Calibri Light"/>
              </a:rPr>
              <a:t>Rendement optimal par
cuisson courante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86216" y="1371600"/>
            <a:ext cx="3474720" cy="5029200"/>
          </a:xfrm>
          <a:prstGeom prst="rect">
            <a:avLst/>
          </a:prstGeom>
          <a:solidFill>
            <a:srgbClr val="12131C"/>
          </a:solidFill>
          <a:ln w="635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86216" y="1371600"/>
            <a:ext cx="34747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6216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8D5A3"/>
                </a:solidFill>
                <a:latin typeface="Palatino Linotype"/>
              </a:rPr>
              <a:t>1,5–2 €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6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 Light"/>
              </a:rPr>
              <a:t>par plat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6" y="3794760"/>
            <a:ext cx="237744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60536" y="4023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EBE1"/>
                </a:solidFill>
                <a:latin typeface="Calibri Light"/>
              </a:rPr>
              <a:t>Accessible au quotidien,
comparable au condiment</a:t>
            </a:r>
          </a:p>
        </p:txBody>
      </p:sp>
    </p:spTree>
  </p:cSld>
  <p:clrMapOvr>
    <a:masterClrMapping/>
  </p:clrMapOvr>
  <p:timing>
    <p:tnLst>
      <p:par>
        <p:cTn id="862" dur="indefinite" restart="whenNotActive" nodeType="tmRoot">
          <p:childTnLst>
            <p:seq concurrent="1" nextAc="seek">
              <p:cTn id="863" dur="indefinite" nodeType="mainSeq">
                <p:childTnLst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4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6" fill="hold">
                      <p:stCondLst>
                        <p:cond delay="indefinite"/>
                      </p:stCondLst>
                      <p:childTnLst>
                        <p:par>
                          <p:cTn id="787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0" fill="hold">
                      <p:stCondLst>
                        <p:cond delay="indefinite"/>
                      </p:stCondLst>
                      <p:childTnLst>
                        <p:par>
                          <p:cTn id="791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3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4" fill="hold">
                      <p:stCondLst>
                        <p:cond delay="indefinite"/>
                      </p:stCondLst>
                      <p:childTnLst>
                        <p:par>
                          <p:cTn id="795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6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8" fill="hold">
                      <p:stCondLst>
                        <p:cond delay="indefinite"/>
                      </p:stCondLst>
                      <p:childTnLst>
                        <p:par>
                          <p:cTn id="799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0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1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indefinite"/>
                      </p:stCondLst>
                      <p:childTnLst>
                        <p:par>
                          <p:cTn id="803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5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indefinite"/>
                      </p:stCondLst>
                      <p:childTnLst>
                        <p:par>
                          <p:cTn id="807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8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9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0" fill="hold">
                      <p:stCondLst>
                        <p:cond delay="indefinite"/>
                      </p:stCondLst>
                      <p:childTnLst>
                        <p:par>
                          <p:cTn id="811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3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4" fill="hold">
                      <p:stCondLst>
                        <p:cond delay="indefinite"/>
                      </p:stCondLst>
                      <p:childTnLst>
                        <p:par>
                          <p:cTn id="815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6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0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1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2" fill="hold">
                      <p:stCondLst>
                        <p:cond delay="indefinite"/>
                      </p:stCondLst>
                      <p:childTnLst>
                        <p:par>
                          <p:cTn id="823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5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>
                      <p:stCondLst>
                        <p:cond delay="indefinite"/>
                      </p:stCondLst>
                      <p:childTnLst>
                        <p:par>
                          <p:cTn id="827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9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0" fill="hold">
                      <p:stCondLst>
                        <p:cond delay="indefinite"/>
                      </p:stCondLst>
                      <p:childTnLst>
                        <p:par>
                          <p:cTn id="831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3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4" fill="hold">
                      <p:stCondLst>
                        <p:cond delay="indefinite"/>
                      </p:stCondLst>
                      <p:childTnLst>
                        <p:par>
                          <p:cTn id="835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6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7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8" fill="hold">
                      <p:stCondLst>
                        <p:cond delay="indefinite"/>
                      </p:stCondLst>
                      <p:childTnLst>
                        <p:par>
                          <p:cTn id="839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0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1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4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5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>
                      <p:stCondLst>
                        <p:cond delay="indefinite"/>
                      </p:stCondLst>
                      <p:childTnLst>
                        <p:par>
                          <p:cTn id="847" presetID="10" presetClass="entr" presetSubtype="0" fill="hold" grpId="1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8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9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0" fill="hold">
                      <p:stCondLst>
                        <p:cond delay="indefinite"/>
                      </p:stCondLst>
                      <p:childTnLst>
                        <p:par>
                          <p:cTn id="851" presetID="10" presetClass="entr" presetSubtype="0" fill="hold" grpId="1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3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>
                      <p:stCondLst>
                        <p:cond delay="indefinite"/>
                      </p:stCondLst>
                      <p:childTnLst>
                        <p:par>
                          <p:cTn id="855" presetID="10" presetClass="entr" presetSubtype="0" fill="hold" grpId="1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6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7" dur="6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58" fill="hold">
                      <p:stCondLst>
                        <p:cond delay="indefinite"/>
                      </p:stCondLst>
                      <p:childTnLst>
                        <p:par>
                          <p:cTn id="859" presetID="10" presetClass="entr" presetSubtype="0" fill="hold" grpId="1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0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1" dur="6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  <p:bldP spid="9" grpId="7" uiExpand="1" build="p"/>
      <p:bldP spid="10" grpId="8" uiExpand="1" build="p"/>
      <p:bldP spid="11" grpId="9" uiExpand="1" build="p"/>
      <p:bldP spid="12" grpId="10" uiExpand="1" build="p"/>
      <p:bldP spid="13" grpId="11" uiExpand="1" build="p"/>
      <p:bldP spid="14" grpId="12" uiExpand="1" build="p"/>
      <p:bldP spid="15" grpId="13" uiExpand="1" build="p"/>
      <p:bldP spid="16" grpId="14" uiExpand="1" build="p"/>
      <p:bldP spid="17" grpId="15" uiExpand="1" build="p"/>
      <p:bldP spid="18" grpId="16" uiExpand="1" build="p"/>
      <p:bldP spid="19" grpId="17" uiExpand="1" build="p"/>
      <p:bldP spid="20" grpId="18" uiExpand="1" build="p"/>
      <p:bldP spid="21" grpId="19" uiExpand="1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10634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8D5A3"/>
                </a:solidFill>
                <a:latin typeface="Palatino Linotype"/>
              </a:rPr>
              <a:t>Un territoire existant, mais fragmenté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65276" y="3749039"/>
            <a:ext cx="10058400" cy="0"/>
          </a:xfrm>
          <a:prstGeom prst="line">
            <a:avLst/>
          </a:prstGeom>
          <a:ln w="12700">
            <a:solidFill>
              <a:srgbClr val="282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94476" y="1371599"/>
            <a:ext cx="0" cy="4754880"/>
          </a:xfrm>
          <a:prstGeom prst="line">
            <a:avLst/>
          </a:prstGeom>
          <a:ln w="12700">
            <a:solidFill>
              <a:srgbClr val="282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46720" y="388619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 Light"/>
              </a:rPr>
              <a:t>Post-préparation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" y="388619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 Light"/>
              </a:rPr>
              <a:t>Cuisson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128015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 Light"/>
              </a:rPr>
              <a:t>Formulation
contextualisée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6035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 Light"/>
              </a:rPr>
              <a:t>Agrémentation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5276" y="1371599"/>
            <a:ext cx="5029200" cy="2377440"/>
          </a:xfrm>
          <a:prstGeom prst="rect">
            <a:avLst/>
          </a:prstGeom>
          <a:solidFill>
            <a:srgbClr val="14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4476" y="1371599"/>
            <a:ext cx="5029200" cy="2377440"/>
          </a:xfrm>
          <a:prstGeom prst="rect">
            <a:avLst/>
          </a:prstGeom>
          <a:solidFill>
            <a:srgbClr val="18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5276" y="3749039"/>
            <a:ext cx="5029200" cy="237744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4476" y="3749039"/>
            <a:ext cx="5029200" cy="2377440"/>
          </a:xfrm>
          <a:prstGeom prst="rect">
            <a:avLst/>
          </a:prstGeom>
          <a:solidFill>
            <a:srgbClr val="12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68396" y="4297679"/>
            <a:ext cx="365760" cy="365760"/>
          </a:xfrm>
          <a:prstGeom prst="ellipse">
            <a:avLst/>
          </a:prstGeom>
          <a:solidFill>
            <a:srgbClr val="282838"/>
          </a:solidFill>
          <a:ln w="508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8436" y="422452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28282"/>
                </a:solidFill>
                <a:latin typeface="Calibri Light"/>
              </a:rPr>
              <a:t>Maggi</a:t>
            </a:r>
          </a:p>
        </p:txBody>
      </p:sp>
      <p:sp>
        <p:nvSpPr>
          <p:cNvPr id="15" name="Oval 14"/>
          <p:cNvSpPr/>
          <p:nvPr/>
        </p:nvSpPr>
        <p:spPr>
          <a:xfrm>
            <a:off x="4539996" y="5212079"/>
            <a:ext cx="365760" cy="365760"/>
          </a:xfrm>
          <a:prstGeom prst="ellipse">
            <a:avLst/>
          </a:prstGeom>
          <a:solidFill>
            <a:srgbClr val="282838"/>
          </a:solidFill>
          <a:ln w="508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36" y="513892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28282"/>
                </a:solidFill>
                <a:latin typeface="Calibri Light"/>
              </a:rPr>
              <a:t>Épices BIO</a:t>
            </a:r>
          </a:p>
        </p:txBody>
      </p:sp>
      <p:sp>
        <p:nvSpPr>
          <p:cNvPr id="17" name="Oval 16"/>
          <p:cNvSpPr/>
          <p:nvPr/>
        </p:nvSpPr>
        <p:spPr>
          <a:xfrm>
            <a:off x="6825996" y="4937759"/>
            <a:ext cx="365760" cy="365760"/>
          </a:xfrm>
          <a:prstGeom prst="ellipse">
            <a:avLst/>
          </a:prstGeom>
          <a:solidFill>
            <a:srgbClr val="282838"/>
          </a:solidFill>
          <a:ln w="508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6036" y="486460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28282"/>
                </a:solidFill>
                <a:latin typeface="Calibri Light"/>
              </a:rPr>
              <a:t>Actifry</a:t>
            </a:r>
          </a:p>
        </p:txBody>
      </p:sp>
      <p:sp>
        <p:nvSpPr>
          <p:cNvPr id="19" name="Oval 18"/>
          <p:cNvSpPr/>
          <p:nvPr/>
        </p:nvSpPr>
        <p:spPr>
          <a:xfrm>
            <a:off x="8197596" y="4023359"/>
            <a:ext cx="365760" cy="365760"/>
          </a:xfrm>
          <a:prstGeom prst="ellipse">
            <a:avLst/>
          </a:prstGeom>
          <a:solidFill>
            <a:srgbClr val="282838"/>
          </a:solidFill>
          <a:ln w="508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7636" y="395020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28282"/>
                </a:solidFill>
                <a:latin typeface="Calibri Light"/>
              </a:rPr>
              <a:t>Yooji</a:t>
            </a:r>
          </a:p>
        </p:txBody>
      </p:sp>
      <p:sp>
        <p:nvSpPr>
          <p:cNvPr id="21" name="Oval 20"/>
          <p:cNvSpPr/>
          <p:nvPr/>
        </p:nvSpPr>
        <p:spPr>
          <a:xfrm>
            <a:off x="4082796" y="2834639"/>
            <a:ext cx="365760" cy="365760"/>
          </a:xfrm>
          <a:prstGeom prst="ellipse">
            <a:avLst/>
          </a:prstGeom>
          <a:solidFill>
            <a:srgbClr val="282838"/>
          </a:solidFill>
          <a:ln w="508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2836" y="276148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28282"/>
                </a:solidFill>
                <a:latin typeface="Calibri Light"/>
              </a:rPr>
              <a:t>Overstims</a:t>
            </a:r>
          </a:p>
        </p:txBody>
      </p:sp>
      <p:sp>
        <p:nvSpPr>
          <p:cNvPr id="23" name="Oval 22"/>
          <p:cNvSpPr/>
          <p:nvPr/>
        </p:nvSpPr>
        <p:spPr>
          <a:xfrm>
            <a:off x="8270748" y="1719071"/>
            <a:ext cx="768096" cy="76809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E8D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996" y="1783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D5A3"/>
                </a:solidFill>
                <a:latin typeface="Palatino Linotype"/>
              </a:rPr>
              <a:t>KORIUM</a:t>
            </a:r>
          </a:p>
          <a:p>
            <a:pPr algn="l"/>
            <a:r>
              <a:rPr sz="900" b="0">
                <a:solidFill>
                  <a:srgbClr val="828282"/>
                </a:solidFill>
                <a:latin typeface="Calibri Light"/>
              </a:rPr>
              <a:t>by QUINTALYS</a:t>
            </a:r>
          </a:p>
        </p:txBody>
      </p:sp>
    </p:spTree>
  </p:cSld>
  <p:clrMapOvr>
    <a:masterClrMapping/>
  </p:clrMapOvr>
  <p:timing>
    <p:tnLst>
      <p:par>
        <p:cTn id="956" dur="indefinite" restart="whenNotActive" nodeType="tmRoot">
          <p:childTnLst>
            <p:seq concurrent="1" nextAc="seek">
              <p:cTn id="957" dur="indefinite" nodeType="mainSeq">
                <p:childTnLst>
                  <p:par>
                    <p:cTn id="864" fill="hold">
                      <p:stCondLst>
                        <p:cond delay="indefinite"/>
                      </p:stCondLst>
                      <p:childTnLst>
                        <p:par>
                          <p:cTn id="86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6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8" fill="hold">
                      <p:stCondLst>
                        <p:cond delay="indefinite"/>
                      </p:stCondLst>
                      <p:childTnLst>
                        <p:par>
                          <p:cTn id="869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0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2" fill="hold">
                      <p:stCondLst>
                        <p:cond delay="indefinite"/>
                      </p:stCondLst>
                      <p:childTnLst>
                        <p:par>
                          <p:cTn id="873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4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6" fill="hold">
                      <p:stCondLst>
                        <p:cond delay="indefinite"/>
                      </p:stCondLst>
                      <p:childTnLst>
                        <p:par>
                          <p:cTn id="877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0" fill="hold">
                      <p:stCondLst>
                        <p:cond delay="indefinite"/>
                      </p:stCondLst>
                      <p:childTnLst>
                        <p:par>
                          <p:cTn id="881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2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8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4" fill="hold">
                      <p:stCondLst>
                        <p:cond delay="indefinite"/>
                      </p:stCondLst>
                      <p:childTnLst>
                        <p:par>
                          <p:cTn id="885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6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8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8" fill="hold">
                      <p:stCondLst>
                        <p:cond delay="indefinite"/>
                      </p:stCondLst>
                      <p:childTnLst>
                        <p:par>
                          <p:cTn id="889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1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2" fill="hold">
                      <p:stCondLst>
                        <p:cond delay="indefinite"/>
                      </p:stCondLst>
                      <p:childTnLst>
                        <p:par>
                          <p:cTn id="893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6" fill="hold">
                      <p:stCondLst>
                        <p:cond delay="indefinite"/>
                      </p:stCondLst>
                      <p:childTnLst>
                        <p:par>
                          <p:cTn id="897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8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0" fill="hold">
                      <p:stCondLst>
                        <p:cond delay="indefinite"/>
                      </p:stCondLst>
                      <p:childTnLst>
                        <p:par>
                          <p:cTn id="901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2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3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4" fill="hold">
                      <p:stCondLst>
                        <p:cond delay="indefinite"/>
                      </p:stCondLst>
                      <p:childTnLst>
                        <p:par>
                          <p:cTn id="905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6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08" fill="hold">
                      <p:stCondLst>
                        <p:cond delay="indefinite"/>
                      </p:stCondLst>
                      <p:childTnLst>
                        <p:par>
                          <p:cTn id="909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0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2" fill="hold">
                      <p:stCondLst>
                        <p:cond delay="indefinite"/>
                      </p:stCondLst>
                      <p:childTnLst>
                        <p:par>
                          <p:cTn id="913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6" fill="hold">
                      <p:stCondLst>
                        <p:cond delay="indefinite"/>
                      </p:stCondLst>
                      <p:childTnLst>
                        <p:par>
                          <p:cTn id="917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8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9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0" fill="hold">
                      <p:stCondLst>
                        <p:cond delay="indefinite"/>
                      </p:stCondLst>
                      <p:childTnLst>
                        <p:par>
                          <p:cTn id="921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3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4" fill="hold">
                      <p:stCondLst>
                        <p:cond delay="indefinite"/>
                      </p:stCondLst>
                      <p:childTnLst>
                        <p:par>
                          <p:cTn id="925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6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7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8" fill="hold">
                      <p:stCondLst>
                        <p:cond delay="indefinite"/>
                      </p:stCondLst>
                      <p:childTnLst>
                        <p:par>
                          <p:cTn id="929" presetID="10" presetClass="entr" presetSubtype="0" fill="hold" grpId="1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0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1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2" fill="hold">
                      <p:stCondLst>
                        <p:cond delay="indefinite"/>
                      </p:stCondLst>
                      <p:childTnLst>
                        <p:par>
                          <p:cTn id="933" presetID="10" presetClass="entr" presetSubtype="0" fill="hold" grpId="1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4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5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6" fill="hold">
                      <p:stCondLst>
                        <p:cond delay="indefinite"/>
                      </p:stCondLst>
                      <p:childTnLst>
                        <p:par>
                          <p:cTn id="937" presetID="10" presetClass="entr" presetSubtype="0" fill="hold" grpId="1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8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9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0" fill="hold">
                      <p:stCondLst>
                        <p:cond delay="indefinite"/>
                      </p:stCondLst>
                      <p:childTnLst>
                        <p:par>
                          <p:cTn id="941" presetID="10" presetClass="entr" presetSubtype="0" fill="hold" grpId="1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3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4" fill="hold">
                      <p:stCondLst>
                        <p:cond delay="indefinite"/>
                      </p:stCondLst>
                      <p:childTnLst>
                        <p:par>
                          <p:cTn id="945" presetID="10" presetClass="entr" presetSubtype="0" fill="hold" grpId="2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6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7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8" fill="hold">
                      <p:stCondLst>
                        <p:cond delay="indefinite"/>
                      </p:stCondLst>
                      <p:childTnLst>
                        <p:par>
                          <p:cTn id="949" presetID="10" presetClass="entr" presetSubtype="0" fill="hold" grpId="2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0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2" fill="hold">
                      <p:stCondLst>
                        <p:cond delay="indefinite"/>
                      </p:stCondLst>
                      <p:childTnLst>
                        <p:par>
                          <p:cTn id="953" presetID="10" presetClass="entr" presetSubtype="0" fill="hold" grpId="2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4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9" grpId="1" uiExpand="1" build="p"/>
      <p:bldP spid="10" grpId="2" uiExpand="1" build="p"/>
      <p:bldP spid="11" grpId="3" uiExpand="1" build="p"/>
      <p:bldP spid="12" grpId="4" uiExpand="1" build="p"/>
      <p:bldP spid="3" grpId="5" uiExpand="1" build="p"/>
      <p:bldP spid="4" grpId="6" uiExpand="1" build="p"/>
      <p:bldP spid="5" grpId="7" uiExpand="1" build="p"/>
      <p:bldP spid="6" grpId="8" uiExpand="1" build="p"/>
      <p:bldP spid="7" grpId="9" uiExpand="1" build="p"/>
      <p:bldP spid="8" grpId="10" uiExpand="1" build="p"/>
      <p:bldP spid="13" grpId="11" uiExpand="1" build="p"/>
      <p:bldP spid="15" grpId="12" uiExpand="1" build="p"/>
      <p:bldP spid="17" grpId="13" uiExpand="1" build="p"/>
      <p:bldP spid="19" grpId="14" uiExpand="1" build="p"/>
      <p:bldP spid="21" grpId="15" uiExpand="1" build="p"/>
      <p:bldP spid="14" grpId="16" uiExpand="1" build="p"/>
      <p:bldP spid="16" grpId="17" uiExpand="1" build="p"/>
      <p:bldP spid="18" grpId="18" uiExpand="1" build="p"/>
      <p:bldP spid="20" grpId="19" uiExpand="1" build="p"/>
      <p:bldP spid="22" grpId="20" uiExpand="1" build="p"/>
      <p:bldP spid="23" grpId="21" uiExpand="1" build="p"/>
      <p:bldP spid="24" grpId="22" uiExpand="1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10634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8D5A3"/>
                </a:solidFill>
                <a:latin typeface="Palatino Linotype"/>
              </a:rPr>
              <a:t>Des briques séparées — aucune convergence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0" y="1143000"/>
            <a:ext cx="7616952" cy="0"/>
          </a:xfrm>
          <a:prstGeom prst="line">
            <a:avLst/>
          </a:prstGeom>
          <a:ln w="635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77240" y="1325880"/>
            <a:ext cx="2560320" cy="640080"/>
          </a:xfrm>
          <a:prstGeom prst="rect">
            <a:avLst/>
          </a:prstGeom>
          <a:solidFill>
            <a:srgbClr val="485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  <a:latin typeface="Calibri"/>
              </a:rPr>
              <a:t>SAUPOUDRAGE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2560320" cy="3566160"/>
          </a:xfrm>
          <a:prstGeom prst="rect">
            <a:avLst/>
          </a:prstGeom>
          <a:solidFill>
            <a:srgbClr val="12131C"/>
          </a:solidFill>
          <a:ln w="508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Épices Ducros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Fleur de 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Mélanges aromatiques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12464" y="1325880"/>
            <a:ext cx="2560320" cy="64008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  <a:latin typeface="Calibri"/>
              </a:rPr>
              <a:t>PRÊT-À-CUIRE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2464" y="1965960"/>
            <a:ext cx="2560320" cy="3566160"/>
          </a:xfrm>
          <a:prstGeom prst="rect">
            <a:avLst/>
          </a:prstGeom>
          <a:solidFill>
            <a:srgbClr val="12131C"/>
          </a:solidFill>
          <a:ln w="508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1064" y="2331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Yooji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4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Bonduelle Vapeur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4" y="3703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Kit légumes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7688" y="1325880"/>
            <a:ext cx="2560320" cy="640080"/>
          </a:xfrm>
          <a:prstGeom prst="rect">
            <a:avLst/>
          </a:prstGeom>
          <a:solidFill>
            <a:srgbClr val="3A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  <a:latin typeface="Calibri"/>
              </a:rPr>
              <a:t>AROMATIQUE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7688" y="1965960"/>
            <a:ext cx="2560320" cy="3566160"/>
          </a:xfrm>
          <a:prstGeom prst="rect">
            <a:avLst/>
          </a:prstGeom>
          <a:solidFill>
            <a:srgbClr val="12131C"/>
          </a:solidFill>
          <a:ln w="508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2331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Herbes fraîches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Bouillons Maggi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703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Concentrés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82912" y="1325880"/>
            <a:ext cx="2560320" cy="640080"/>
          </a:xfrm>
          <a:prstGeom prst="rect">
            <a:avLst/>
          </a:prstGeom>
          <a:solidFill>
            <a:srgbClr val="28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  <a:latin typeface="Calibri"/>
              </a:rPr>
              <a:t>FOOD-SCIENCE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82912" y="1965960"/>
            <a:ext cx="2560320" cy="3566160"/>
          </a:xfrm>
          <a:prstGeom prst="rect">
            <a:avLst/>
          </a:prstGeom>
          <a:solidFill>
            <a:srgbClr val="12131C"/>
          </a:solidFill>
          <a:ln w="508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2331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Nutraceutique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Overstims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3703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BE1"/>
                </a:solidFill>
                <a:latin typeface="Calibri Light"/>
              </a:rPr>
              <a:t>· Protéines fonct.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760720"/>
            <a:ext cx="10634472" cy="777240"/>
          </a:xfrm>
          <a:prstGeom prst="rect">
            <a:avLst/>
          </a:prstGeom>
          <a:solidFill>
            <a:srgbClr val="141006"/>
          </a:solidFill>
          <a:ln w="508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852160"/>
            <a:ext cx="100858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D5A3"/>
                </a:solidFill>
                <a:latin typeface="Palatino Linotype"/>
              </a:rPr>
              <a:t>KORIUM est la première solution qui intègre ces dimensions dans un geste culinaire unique.</a:t>
            </a:r>
          </a:p>
        </p:txBody>
      </p:sp>
    </p:spTree>
  </p:cSld>
  <p:clrMapOvr>
    <a:masterClrMapping/>
  </p:clrMapOvr>
  <p:timing>
    <p:tnLst>
      <p:par>
        <p:cTn id="1070" dur="indefinite" restart="whenNotActive" nodeType="tmRoot">
          <p:childTnLst>
            <p:seq concurrent="1" nextAc="seek">
              <p:cTn id="1071" dur="indefinite" nodeType="mainSeq">
                <p:childTnLst>
                  <p:par>
                    <p:cTn id="958" fill="hold">
                      <p:stCondLst>
                        <p:cond delay="indefinite"/>
                      </p:stCondLst>
                      <p:childTnLst>
                        <p:par>
                          <p:cTn id="95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0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1" dur="5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2" fill="hold">
                      <p:stCondLst>
                        <p:cond delay="indefinite"/>
                      </p:stCondLst>
                      <p:childTnLst>
                        <p:par>
                          <p:cTn id="963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4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5" dur="5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6" fill="hold">
                      <p:stCondLst>
                        <p:cond delay="indefinite"/>
                      </p:stCondLst>
                      <p:childTnLst>
                        <p:par>
                          <p:cTn id="967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8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9" dur="5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70" fill="hold">
                      <p:stCondLst>
                        <p:cond delay="indefinite"/>
                      </p:stCondLst>
                      <p:childTnLst>
                        <p:par>
                          <p:cTn id="971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3" dur="5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74" fill="hold">
                      <p:stCondLst>
                        <p:cond delay="indefinite"/>
                      </p:stCondLst>
                      <p:childTnLst>
                        <p:par>
                          <p:cTn id="975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6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7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78" fill="hold">
                      <p:stCondLst>
                        <p:cond delay="indefinite"/>
                      </p:stCondLst>
                      <p:childTnLst>
                        <p:par>
                          <p:cTn id="979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0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1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82" fill="hold">
                      <p:stCondLst>
                        <p:cond delay="indefinite"/>
                      </p:stCondLst>
                      <p:childTnLst>
                        <p:par>
                          <p:cTn id="983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4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5" dur="5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86" fill="hold">
                      <p:stCondLst>
                        <p:cond delay="indefinite"/>
                      </p:stCondLst>
                      <p:childTnLst>
                        <p:par>
                          <p:cTn id="987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8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9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0" fill="hold">
                      <p:stCondLst>
                        <p:cond delay="indefinite"/>
                      </p:stCondLst>
                      <p:childTnLst>
                        <p:par>
                          <p:cTn id="991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2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3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4" fill="hold">
                      <p:stCondLst>
                        <p:cond delay="indefinite"/>
                      </p:stCondLst>
                      <p:childTnLst>
                        <p:par>
                          <p:cTn id="995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6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7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8" fill="hold">
                      <p:stCondLst>
                        <p:cond delay="indefinite"/>
                      </p:stCondLst>
                      <p:childTnLst>
                        <p:par>
                          <p:cTn id="999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0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1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2" fill="hold">
                      <p:stCondLst>
                        <p:cond delay="indefinite"/>
                      </p:stCondLst>
                      <p:childTnLst>
                        <p:par>
                          <p:cTn id="1003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5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6" fill="hold">
                      <p:stCondLst>
                        <p:cond delay="indefinite"/>
                      </p:stCondLst>
                      <p:childTnLst>
                        <p:par>
                          <p:cTn id="1007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8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9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indefinite"/>
                      </p:stCondLst>
                      <p:childTnLst>
                        <p:par>
                          <p:cTn id="1011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2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3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4" fill="hold">
                      <p:stCondLst>
                        <p:cond delay="indefinite"/>
                      </p:stCondLst>
                      <p:childTnLst>
                        <p:par>
                          <p:cTn id="1015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6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7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8" fill="hold">
                      <p:stCondLst>
                        <p:cond delay="indefinite"/>
                      </p:stCondLst>
                      <p:childTnLst>
                        <p:par>
                          <p:cTn id="1019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0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1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2" fill="hold">
                      <p:stCondLst>
                        <p:cond delay="indefinite"/>
                      </p:stCondLst>
                      <p:childTnLst>
                        <p:par>
                          <p:cTn id="1023" presetID="10" presetClass="entr" presetSubtype="0" fill="hold" grpId="1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4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5" dur="5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6" fill="hold">
                      <p:stCondLst>
                        <p:cond delay="indefinite"/>
                      </p:stCondLst>
                      <p:childTnLst>
                        <p:par>
                          <p:cTn id="1027" presetID="10" presetClass="entr" presetSubtype="0" fill="hold" grpId="1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8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9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0" fill="hold">
                      <p:stCondLst>
                        <p:cond delay="indefinite"/>
                      </p:stCondLst>
                      <p:childTnLst>
                        <p:par>
                          <p:cTn id="1031" presetID="10" presetClass="entr" presetSubtype="0" fill="hold" grpId="1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2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3" dur="5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4" fill="hold">
                      <p:stCondLst>
                        <p:cond delay="indefinite"/>
                      </p:stCondLst>
                      <p:childTnLst>
                        <p:par>
                          <p:cTn id="1035" presetID="10" presetClass="entr" presetSubtype="0" fill="hold" grpId="1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6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7" dur="5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38" fill="hold">
                      <p:stCondLst>
                        <p:cond delay="indefinite"/>
                      </p:stCondLst>
                      <p:childTnLst>
                        <p:par>
                          <p:cTn id="1039" presetID="10" presetClass="entr" presetSubtype="0" fill="hold" grpId="2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0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1" dur="5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2" fill="hold">
                      <p:stCondLst>
                        <p:cond delay="indefinite"/>
                      </p:stCondLst>
                      <p:childTnLst>
                        <p:par>
                          <p:cTn id="1043" presetID="10" presetClass="entr" presetSubtype="0" fill="hold" grpId="2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4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5" dur="5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6" fill="hold">
                      <p:stCondLst>
                        <p:cond delay="indefinite"/>
                      </p:stCondLst>
                      <p:childTnLst>
                        <p:par>
                          <p:cTn id="1047" presetID="10" presetClass="entr" presetSubtype="0" fill="hold" grpId="2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8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9" dur="5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0" fill="hold">
                      <p:stCondLst>
                        <p:cond delay="indefinite"/>
                      </p:stCondLst>
                      <p:childTnLst>
                        <p:par>
                          <p:cTn id="1051" presetID="10" presetClass="entr" presetSubtype="0" fill="hold" grpId="2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2" dur="1" fill="hold"/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3" dur="5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4" fill="hold">
                      <p:stCondLst>
                        <p:cond delay="indefinite"/>
                      </p:stCondLst>
                      <p:childTnLst>
                        <p:par>
                          <p:cTn id="1055" presetID="10" presetClass="entr" presetSubtype="0" fill="hold" grpId="2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6" dur="1" fill="hold"/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7" dur="5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8" fill="hold">
                      <p:stCondLst>
                        <p:cond delay="indefinite"/>
                      </p:stCondLst>
                      <p:childTnLst>
                        <p:par>
                          <p:cTn id="1059" presetID="10" presetClass="entr" presetSubtype="0" fill="hold" grpId="2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0" dur="1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1" dur="5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62" fill="hold">
                      <p:stCondLst>
                        <p:cond delay="indefinite"/>
                      </p:stCondLst>
                      <p:childTnLst>
                        <p:par>
                          <p:cTn id="1063" presetID="10" presetClass="entr" presetSubtype="0" fill="hold" grpId="2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4" dur="1" fill="hold"/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5" dur="5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66" fill="hold">
                      <p:stCondLst>
                        <p:cond delay="indefinite"/>
                      </p:stCondLst>
                      <p:childTnLst>
                        <p:par>
                          <p:cTn id="1067" presetID="10" presetClass="entr" presetSubtype="0" fill="hold" grpId="2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8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9" dur="5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  <p:bldP spid="9" grpId="7" uiExpand="1" build="p"/>
      <p:bldP spid="10" grpId="8" uiExpand="1" build="p"/>
      <p:bldP spid="11" grpId="9" uiExpand="1" build="p"/>
      <p:bldP spid="12" grpId="10" uiExpand="1" build="p"/>
      <p:bldP spid="13" grpId="11" uiExpand="1" build="p"/>
      <p:bldP spid="14" grpId="12" uiExpand="1" build="p"/>
      <p:bldP spid="15" grpId="13" uiExpand="1" build="p"/>
      <p:bldP spid="16" grpId="14" uiExpand="1" build="p"/>
      <p:bldP spid="17" grpId="15" uiExpand="1" build="p"/>
      <p:bldP spid="18" grpId="16" uiExpand="1" build="p"/>
      <p:bldP spid="19" grpId="17" uiExpand="1" build="p"/>
      <p:bldP spid="20" grpId="18" uiExpand="1" build="p"/>
      <p:bldP spid="21" grpId="19" uiExpand="1" build="p"/>
      <p:bldP spid="22" grpId="20" uiExpand="1" build="p"/>
      <p:bldP spid="23" grpId="21" uiExpand="1" build="p"/>
      <p:bldP spid="24" grpId="22" uiExpand="1" build="p"/>
      <p:bldP spid="25" grpId="23" uiExpand="1" build="p"/>
      <p:bldP spid="26" grpId="24" uiExpand="1" build="p"/>
      <p:bldP spid="27" grpId="25" uiExpand="1" build="p"/>
      <p:bldP spid="28" grpId="26" uiExpand="1" build="p"/>
      <p:bldP spid="29" grpId="27" uiExpand="1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10634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8D5A3"/>
                </a:solidFill>
                <a:latin typeface="Palatino Linotype"/>
              </a:rPr>
              <a:t>Un marché existant, une cible identifiée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1143000"/>
            <a:ext cx="6702552" cy="0"/>
          </a:xfrm>
          <a:prstGeom prst="line">
            <a:avLst/>
          </a:prstGeom>
          <a:ln w="635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77240" y="1371600"/>
            <a:ext cx="3429000" cy="4754880"/>
          </a:xfrm>
          <a:prstGeom prst="rect">
            <a:avLst/>
          </a:prstGeom>
          <a:solidFill>
            <a:srgbClr val="14261C"/>
          </a:solidFill>
          <a:ln w="7620">
            <a:solidFill>
              <a:srgbClr val="7A6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64008" cy="47548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  <a:latin typeface="Calibri Light"/>
              </a:rPr>
              <a:t>MARCHÉ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D5A3"/>
                </a:solidFill>
                <a:latin typeface="Palatino Linotype"/>
              </a:rPr>
              <a:t>3,2 Md€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E1"/>
                </a:solidFill>
                <a:latin typeface="Calibri Light"/>
              </a:rPr>
              <a:t>Condiments &amp; épices France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3886200"/>
            <a:ext cx="297180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40" y="40690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Calibri Light"/>
              </a:rPr>
              <a:t>+4,7 % / an depuis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416" y="1371600"/>
            <a:ext cx="3429000" cy="4754880"/>
          </a:xfrm>
          <a:prstGeom prst="rect">
            <a:avLst/>
          </a:prstGeom>
          <a:solidFill>
            <a:srgbClr val="204030"/>
          </a:solidFill>
          <a:ln w="7620">
            <a:solidFill>
              <a:srgbClr val="7A6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371600"/>
            <a:ext cx="64008" cy="47548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1554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  <a:latin typeface="Calibri Light"/>
              </a:rPr>
              <a:t>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1031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D5A3"/>
                </a:solidFill>
                <a:latin typeface="Palatino Linotype"/>
              </a:rPr>
              <a:t>Cuisiniers actifs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30632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E1"/>
                </a:solidFill>
                <a:latin typeface="Calibri Light"/>
              </a:rPr>
              <a:t>28–55 ans, urbains
sensibles à la nutrition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00016" y="3886200"/>
            <a:ext cx="297180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00016" y="40690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Calibri Light"/>
              </a:rPr>
              <a:t>~12 M de ménages concernés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1371600"/>
            <a:ext cx="3429000" cy="4754880"/>
          </a:xfrm>
          <a:prstGeom prst="rect">
            <a:avLst/>
          </a:prstGeom>
          <a:solidFill>
            <a:srgbClr val="203A2C"/>
          </a:solidFill>
          <a:ln w="7620">
            <a:solidFill>
              <a:srgbClr val="7A6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371600"/>
            <a:ext cx="64008" cy="47548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5544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  <a:latin typeface="Calibri Light"/>
              </a:rPr>
              <a:t>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1031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D5A3"/>
                </a:solidFill>
                <a:latin typeface="Palatino Linotype"/>
              </a:rPr>
              <a:t>1,5–2 €/plat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06324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BE1"/>
                </a:solidFill>
                <a:latin typeface="Calibri Light"/>
              </a:rPr>
              <a:t>Budget condiment habituel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4192" y="3886200"/>
            <a:ext cx="297180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94192" y="40690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28282"/>
                </a:solidFill>
                <a:latin typeface="Calibri Light"/>
              </a:rPr>
              <a:t>Intégration sans rupture
de comportement</a:t>
            </a:r>
          </a:p>
        </p:txBody>
      </p:sp>
    </p:spTree>
  </p:cSld>
  <p:clrMapOvr>
    <a:masterClrMapping/>
  </p:clrMapOvr>
  <p:timing>
    <p:tnLst>
      <p:par>
        <p:cTn id="1164" dur="indefinite" restart="whenNotActive" nodeType="tmRoot">
          <p:childTnLst>
            <p:seq concurrent="1" nextAc="seek">
              <p:cTn id="1165" dur="indefinite" nodeType="mainSeq">
                <p:childTnLst>
                  <p:par>
                    <p:cTn id="1072" fill="hold">
                      <p:stCondLst>
                        <p:cond delay="indefinite"/>
                      </p:stCondLst>
                      <p:childTnLst>
                        <p:par>
                          <p:cTn id="107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4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6" fill="hold">
                      <p:stCondLst>
                        <p:cond delay="indefinite"/>
                      </p:stCondLst>
                      <p:childTnLst>
                        <p:par>
                          <p:cTn id="1077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9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indefinite"/>
                      </p:stCondLst>
                      <p:childTnLst>
                        <p:par>
                          <p:cTn id="1081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3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4" fill="hold">
                      <p:stCondLst>
                        <p:cond delay="indefinite"/>
                      </p:stCondLst>
                      <p:childTnLst>
                        <p:par>
                          <p:cTn id="1085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6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8" fill="hold">
                      <p:stCondLst>
                        <p:cond delay="indefinite"/>
                      </p:stCondLst>
                      <p:childTnLst>
                        <p:par>
                          <p:cTn id="1089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0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91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2" fill="hold">
                      <p:stCondLst>
                        <p:cond delay="indefinite"/>
                      </p:stCondLst>
                      <p:childTnLst>
                        <p:par>
                          <p:cTn id="1093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95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6" fill="hold">
                      <p:stCondLst>
                        <p:cond delay="indefinite"/>
                      </p:stCondLst>
                      <p:childTnLst>
                        <p:par>
                          <p:cTn id="1097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8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99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0" fill="hold">
                      <p:stCondLst>
                        <p:cond delay="indefinite"/>
                      </p:stCondLst>
                      <p:childTnLst>
                        <p:par>
                          <p:cTn id="1101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2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3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4" fill="hold">
                      <p:stCondLst>
                        <p:cond delay="indefinite"/>
                      </p:stCondLst>
                      <p:childTnLst>
                        <p:par>
                          <p:cTn id="1105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6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8" fill="hold">
                      <p:stCondLst>
                        <p:cond delay="indefinite"/>
                      </p:stCondLst>
                      <p:childTnLst>
                        <p:par>
                          <p:cTn id="1109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0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1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2" fill="hold">
                      <p:stCondLst>
                        <p:cond delay="indefinite"/>
                      </p:stCondLst>
                      <p:childTnLst>
                        <p:par>
                          <p:cTn id="1113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5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6" fill="hold">
                      <p:stCondLst>
                        <p:cond delay="indefinite"/>
                      </p:stCondLst>
                      <p:childTnLst>
                        <p:par>
                          <p:cTn id="1117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9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indefinite"/>
                      </p:stCondLst>
                      <p:childTnLst>
                        <p:par>
                          <p:cTn id="1121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3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4" fill="hold">
                      <p:stCondLst>
                        <p:cond delay="indefinite"/>
                      </p:stCondLst>
                      <p:childTnLst>
                        <p:par>
                          <p:cTn id="1125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6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7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8" fill="hold">
                      <p:stCondLst>
                        <p:cond delay="indefinite"/>
                      </p:stCondLst>
                      <p:childTnLst>
                        <p:par>
                          <p:cTn id="1129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0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31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2" fill="hold">
                      <p:stCondLst>
                        <p:cond delay="indefinite"/>
                      </p:stCondLst>
                      <p:childTnLst>
                        <p:par>
                          <p:cTn id="1133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4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35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6" fill="hold">
                      <p:stCondLst>
                        <p:cond delay="indefinite"/>
                      </p:stCondLst>
                      <p:childTnLst>
                        <p:par>
                          <p:cTn id="1137" presetID="10" presetClass="entr" presetSubtype="0" fill="hold" grpId="1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8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39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0" fill="hold">
                      <p:stCondLst>
                        <p:cond delay="indefinite"/>
                      </p:stCondLst>
                      <p:childTnLst>
                        <p:par>
                          <p:cTn id="1141" presetID="10" presetClass="entr" presetSubtype="0" fill="hold" grpId="1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2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3" dur="6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4" fill="hold">
                      <p:stCondLst>
                        <p:cond delay="indefinite"/>
                      </p:stCondLst>
                      <p:childTnLst>
                        <p:par>
                          <p:cTn id="1145" presetID="10" presetClass="entr" presetSubtype="0" fill="hold" grpId="1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6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7" dur="6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8" fill="hold">
                      <p:stCondLst>
                        <p:cond delay="indefinite"/>
                      </p:stCondLst>
                      <p:childTnLst>
                        <p:par>
                          <p:cTn id="1149" presetID="10" presetClass="entr" presetSubtype="0" fill="hold" grpId="1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0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1" dur="6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2" fill="hold">
                      <p:stCondLst>
                        <p:cond delay="indefinite"/>
                      </p:stCondLst>
                      <p:childTnLst>
                        <p:par>
                          <p:cTn id="1153" presetID="10" presetClass="entr" presetSubtype="0" fill="hold" grpId="2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4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5" dur="6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56" fill="hold">
                      <p:stCondLst>
                        <p:cond delay="indefinite"/>
                      </p:stCondLst>
                      <p:childTnLst>
                        <p:par>
                          <p:cTn id="1157" presetID="10" presetClass="entr" presetSubtype="0" fill="hold" grpId="2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8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9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indefinite"/>
                      </p:stCondLst>
                      <p:childTnLst>
                        <p:par>
                          <p:cTn id="1161" presetID="10" presetClass="entr" presetSubtype="0" fill="hold" grpId="2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2"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3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  <p:bldP spid="9" grpId="7" uiExpand="1" build="p"/>
      <p:bldP spid="10" grpId="8" uiExpand="1" build="p"/>
      <p:bldP spid="11" grpId="9" uiExpand="1" build="p"/>
      <p:bldP spid="12" grpId="10" uiExpand="1" build="p"/>
      <p:bldP spid="13" grpId="11" uiExpand="1" build="p"/>
      <p:bldP spid="14" grpId="12" uiExpand="1" build="p"/>
      <p:bldP spid="15" grpId="13" uiExpand="1" build="p"/>
      <p:bldP spid="16" grpId="14" uiExpand="1" build="p"/>
      <p:bldP spid="17" grpId="15" uiExpand="1" build="p"/>
      <p:bldP spid="18" grpId="16" uiExpand="1" build="p"/>
      <p:bldP spid="19" grpId="17" uiExpand="1" build="p"/>
      <p:bldP spid="20" grpId="18" uiExpand="1" build="p"/>
      <p:bldP spid="21" grpId="19" uiExpand="1" build="p"/>
      <p:bldP spid="22" grpId="20" uiExpand="1" build="p"/>
      <p:bldP spid="23" grpId="21" uiExpand="1" build="p"/>
      <p:bldP spid="24" grpId="22" uiExpand="1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10634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8D5A3"/>
                </a:solidFill>
                <a:latin typeface="Palatino Linotype"/>
              </a:rPr>
              <a:t>Foodshaker : l'accélérateur logique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00400" y="1143000"/>
            <a:ext cx="5788152" cy="0"/>
          </a:xfrm>
          <a:prstGeom prst="line">
            <a:avLst/>
          </a:prstGeom>
          <a:ln w="635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1280160"/>
            <a:ext cx="10634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 Light"/>
              </a:rPr>
              <a:t>QUINTALYS × ISARA — 3 piliers de convergence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200400" cy="4389120"/>
          </a:xfrm>
          <a:prstGeom prst="rect">
            <a:avLst/>
          </a:prstGeom>
          <a:solidFill>
            <a:srgbClr val="14261C"/>
          </a:solidFill>
          <a:ln w="762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2057400"/>
            <a:ext cx="822960" cy="8229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07568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B0F"/>
                </a:solidFill>
                <a:latin typeface="Palatino Linotype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3063240"/>
            <a:ext cx="246888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D5A3"/>
                </a:solidFill>
                <a:latin typeface="Calibri"/>
              </a:rPr>
              <a:t>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EBE1"/>
                </a:solidFill>
                <a:latin typeface="Calibri Light"/>
              </a:rPr>
              <a:t>Accès au plateau technique
et aux compétences analytiques
pour documenter KORIUM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783080"/>
            <a:ext cx="3200400" cy="4389120"/>
          </a:xfrm>
          <a:prstGeom prst="rect">
            <a:avLst/>
          </a:prstGeom>
          <a:solidFill>
            <a:srgbClr val="204030"/>
          </a:solidFill>
          <a:ln w="762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41264" y="2057400"/>
            <a:ext cx="822960" cy="8229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1264" y="207568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B0F"/>
                </a:solidFill>
                <a:latin typeface="Palatino Linotype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18304" y="3063240"/>
            <a:ext cx="246888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52544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D5A3"/>
                </a:solidFill>
                <a:latin typeface="Calibri"/>
              </a:rPr>
              <a:t>FOOD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8404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EBE1"/>
                </a:solidFill>
                <a:latin typeface="Calibri Light"/>
              </a:rPr>
              <a:t>Réseau industriels, distributeurs
et expertise go-to-market
spécifique food-tech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7848" y="1783080"/>
            <a:ext cx="3200400" cy="4389120"/>
          </a:xfrm>
          <a:prstGeom prst="rect">
            <a:avLst/>
          </a:prstGeom>
          <a:solidFill>
            <a:srgbClr val="1E382A"/>
          </a:solidFill>
          <a:ln w="762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16568" y="2057400"/>
            <a:ext cx="822960" cy="8229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07568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B0F"/>
                </a:solidFill>
                <a:latin typeface="Palatino Linotype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93608" y="3063240"/>
            <a:ext cx="2468880" cy="0"/>
          </a:xfrm>
          <a:prstGeom prst="line">
            <a:avLst/>
          </a:prstGeom>
          <a:ln w="5080">
            <a:solidFill>
              <a:srgbClr val="7A6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8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D5A3"/>
                </a:solidFill>
                <a:latin typeface="Calibri"/>
              </a:rPr>
              <a:t>STRUCTURATION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38404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EBE1"/>
                </a:solidFill>
                <a:latin typeface="Calibri Light"/>
              </a:rPr>
              <a:t>Accompagnement juridique,
production et IP
pour passer de la formulation au produit</a:t>
            </a:r>
          </a:p>
        </p:txBody>
      </p:sp>
    </p:spTree>
  </p:cSld>
  <p:clrMapOvr>
    <a:masterClrMapping/>
  </p:clrMapOvr>
  <p:timing>
    <p:tnLst>
      <p:par>
        <p:cTn id="1250" dur="indefinite" restart="whenNotActive" nodeType="tmRoot">
          <p:childTnLst>
            <p:seq concurrent="1" nextAc="seek">
              <p:cTn id="1251" dur="indefinite" nodeType="mainSeq">
                <p:childTnLst>
                  <p:par>
                    <p:cTn id="1166" fill="hold">
                      <p:stCondLst>
                        <p:cond delay="indefinite"/>
                      </p:stCondLst>
                      <p:childTnLst>
                        <p:par>
                          <p:cTn id="116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8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9" dur="6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indefinite"/>
                      </p:stCondLst>
                      <p:childTnLst>
                        <p:par>
                          <p:cTn id="1171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2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3" dur="6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4" fill="hold">
                      <p:stCondLst>
                        <p:cond delay="indefinite"/>
                      </p:stCondLst>
                      <p:childTnLst>
                        <p:par>
                          <p:cTn id="1175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6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7" dur="6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8" fill="hold">
                      <p:stCondLst>
                        <p:cond delay="indefinite"/>
                      </p:stCondLst>
                      <p:childTnLst>
                        <p:par>
                          <p:cTn id="1179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0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81" dur="6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82" fill="hold">
                      <p:stCondLst>
                        <p:cond delay="indefinite"/>
                      </p:stCondLst>
                      <p:childTnLst>
                        <p:par>
                          <p:cTn id="1183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4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85" dur="6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86" fill="hold">
                      <p:stCondLst>
                        <p:cond delay="indefinite"/>
                      </p:stCondLst>
                      <p:childTnLst>
                        <p:par>
                          <p:cTn id="1187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8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89" dur="6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0" fill="hold">
                      <p:stCondLst>
                        <p:cond delay="indefinite"/>
                      </p:stCondLst>
                      <p:childTnLst>
                        <p:par>
                          <p:cTn id="1191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2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93" dur="6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4" fill="hold">
                      <p:stCondLst>
                        <p:cond delay="indefinite"/>
                      </p:stCondLst>
                      <p:childTnLst>
                        <p:par>
                          <p:cTn id="1195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6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97" dur="6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8" fill="hold">
                      <p:stCondLst>
                        <p:cond delay="indefinite"/>
                      </p:stCondLst>
                      <p:childTnLst>
                        <p:par>
                          <p:cTn id="1199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0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1" dur="6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2" fill="hold">
                      <p:stCondLst>
                        <p:cond delay="indefinite"/>
                      </p:stCondLst>
                      <p:childTnLst>
                        <p:par>
                          <p:cTn id="1203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4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5" dur="6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6" fill="hold">
                      <p:stCondLst>
                        <p:cond delay="indefinite"/>
                      </p:stCondLst>
                      <p:childTnLst>
                        <p:par>
                          <p:cTn id="1207" presetID="10" presetClass="entr" presetSubtype="0" fill="hold" grpId="1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8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9" dur="6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0" fill="hold">
                      <p:stCondLst>
                        <p:cond delay="indefinite"/>
                      </p:stCondLst>
                      <p:childTnLst>
                        <p:par>
                          <p:cTn id="1211" presetID="10" presetClass="entr" presetSubtype="0" fill="hold" grpId="1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3" dur="6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4" fill="hold">
                      <p:stCondLst>
                        <p:cond delay="indefinite"/>
                      </p:stCondLst>
                      <p:childTnLst>
                        <p:par>
                          <p:cTn id="1215" presetID="10" presetClass="entr" presetSubtype="0" fill="hold" grpId="1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6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7" dur="6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8" fill="hold">
                      <p:stCondLst>
                        <p:cond delay="indefinite"/>
                      </p:stCondLst>
                      <p:childTnLst>
                        <p:par>
                          <p:cTn id="1219" presetID="10" presetClass="entr" presetSubtype="0" fill="hold" grpId="1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0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1" dur="6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2" fill="hold">
                      <p:stCondLst>
                        <p:cond delay="indefinite"/>
                      </p:stCondLst>
                      <p:childTnLst>
                        <p:par>
                          <p:cTn id="1223" presetID="10" presetClass="entr" presetSubtype="0" fill="hold" grpId="1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4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5" dur="6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6" fill="hold">
                      <p:stCondLst>
                        <p:cond delay="indefinite"/>
                      </p:stCondLst>
                      <p:childTnLst>
                        <p:par>
                          <p:cTn id="1227" presetID="10" presetClass="entr" presetSubtype="0" fill="hold" grpId="1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8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9" dur="6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0" fill="hold">
                      <p:stCondLst>
                        <p:cond delay="indefinite"/>
                      </p:stCondLst>
                      <p:childTnLst>
                        <p:par>
                          <p:cTn id="1231" presetID="10" presetClass="entr" presetSubtype="0" fill="hold" grpId="1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32"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3" dur="6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4" fill="hold">
                      <p:stCondLst>
                        <p:cond delay="indefinite"/>
                      </p:stCondLst>
                      <p:childTnLst>
                        <p:par>
                          <p:cTn id="1235" presetID="10" presetClass="entr" presetSubtype="0" fill="hold" grpId="1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36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7" dur="6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8" fill="hold">
                      <p:stCondLst>
                        <p:cond delay="indefinite"/>
                      </p:stCondLst>
                      <p:childTnLst>
                        <p:par>
                          <p:cTn id="1239" presetID="10" presetClass="entr" presetSubtype="0" fill="hold" grpId="1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0" dur="1" fill="hold"/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1" dur="6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2" fill="hold">
                      <p:stCondLst>
                        <p:cond delay="indefinite"/>
                      </p:stCondLst>
                      <p:childTnLst>
                        <p:par>
                          <p:cTn id="1243" presetID="10" presetClass="entr" presetSubtype="0" fill="hold" grpId="1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4" dur="1" fill="hold"/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5" dur="6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6" fill="hold">
                      <p:stCondLst>
                        <p:cond delay="indefinite"/>
                      </p:stCondLst>
                      <p:childTnLst>
                        <p:par>
                          <p:cTn id="1247" presetID="10" presetClass="entr" presetSubtype="0" fill="hold" grpId="2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8"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9" dur="6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  <p:bldP spid="9" grpId="7" uiExpand="1" build="p"/>
      <p:bldP spid="10" grpId="8" uiExpand="1" build="p"/>
      <p:bldP spid="11" grpId="9" uiExpand="1" build="p"/>
      <p:bldP spid="12" grpId="10" uiExpand="1" build="p"/>
      <p:bldP spid="13" grpId="11" uiExpand="1" build="p"/>
      <p:bldP spid="14" grpId="12" uiExpand="1" build="p"/>
      <p:bldP spid="15" grpId="13" uiExpand="1" build="p"/>
      <p:bldP spid="16" grpId="14" uiExpand="1" build="p"/>
      <p:bldP spid="17" grpId="15" uiExpand="1" build="p"/>
      <p:bldP spid="18" grpId="16" uiExpand="1" build="p"/>
      <p:bldP spid="19" grpId="17" uiExpand="1" build="p"/>
      <p:bldP spid="20" grpId="18" uiExpand="1" build="p"/>
      <p:bldP spid="21" grpId="19" uiExpand="1" build="p"/>
      <p:bldP spid="22" grpId="20" uiExpand="1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8229600" cy="8229600"/>
          </a:xfrm>
          <a:prstGeom prst="ellipse">
            <a:avLst/>
          </a:prstGeom>
          <a:solidFill>
            <a:srgbClr val="14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1828800"/>
            <a:ext cx="7315200" cy="7315200"/>
          </a:xfrm>
          <a:prstGeom prst="ellipse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77240" y="640080"/>
            <a:ext cx="516636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097280"/>
            <a:ext cx="103601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EBE1"/>
                </a:solidFill>
                <a:latin typeface="Palatino Linotype"/>
              </a:rPr>
              <a:t>Aujourd'hui, beaucoup de solutions fonctionnelles existent en dehors du repas.</a:t>
            </a:r>
          </a:p>
          <a:p>
            <a:pPr algn="l"/>
          </a:p>
          <a:p>
            <a:pPr algn="l"/>
            <a:r>
              <a:rPr sz="1800" b="0">
                <a:solidFill>
                  <a:srgbClr val="F5F0E8"/>
                </a:solidFill>
                <a:latin typeface="Palatino Linotype"/>
              </a:rPr>
              <a:t>Avec QUINTALYS et KORIUM, mon ambition n'est pas de médicaliser l'assiette,</a:t>
            </a:r>
          </a:p>
          <a:p>
            <a:pPr algn="l"/>
            <a:r>
              <a:rPr sz="1800" b="0">
                <a:solidFill>
                  <a:srgbClr val="F5F0E8"/>
                </a:solidFill>
                <a:latin typeface="Palatino Linotype"/>
              </a:rPr>
              <a:t>mais de réhabiliter la cuisine comme terrain de formulation culinaire,</a:t>
            </a:r>
          </a:p>
          <a:p>
            <a:pPr algn="l"/>
            <a:r>
              <a:rPr sz="1800" b="0">
                <a:solidFill>
                  <a:srgbClr val="F5F0E8"/>
                </a:solidFill>
                <a:latin typeface="Palatino Linotype"/>
              </a:rPr>
              <a:t>à travers un geste simple, documenté et intégré au quotidien.</a:t>
            </a:r>
          </a:p>
          <a:p>
            <a:pPr algn="l"/>
          </a:p>
          <a:p>
            <a:pPr algn="l"/>
            <a:r>
              <a:rPr sz="2000" b="1">
                <a:solidFill>
                  <a:srgbClr val="E8D5A3"/>
                </a:solidFill>
                <a:latin typeface="Palatino Linotype"/>
              </a:rPr>
              <a:t>KORIUM constitue cette première preuve produit.</a:t>
            </a:r>
          </a:p>
          <a:p>
            <a:pPr algn="l"/>
          </a:p>
          <a:p>
            <a:pPr algn="l"/>
            <a:r>
              <a:rPr sz="1800" b="0">
                <a:solidFill>
                  <a:srgbClr val="F5F0E8"/>
                </a:solidFill>
                <a:latin typeface="Palatino Linotype"/>
              </a:rPr>
              <a:t>Et Foodshaker représente pour moi l'environnement capable</a:t>
            </a:r>
          </a:p>
          <a:p>
            <a:pPr algn="l"/>
            <a:r>
              <a:rPr sz="1800" b="0">
                <a:solidFill>
                  <a:srgbClr val="F5F0E8"/>
                </a:solidFill>
                <a:latin typeface="Palatino Linotype"/>
              </a:rPr>
              <a:t>d'aider cette approche à devenir une réalité alimentaire concrète.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6217920"/>
            <a:ext cx="4114800" cy="0"/>
          </a:xfrm>
          <a:prstGeom prst="line">
            <a:avLst/>
          </a:prstGeom>
          <a:ln w="6350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63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28282"/>
                </a:solidFill>
                <a:latin typeface="Calibri Light"/>
              </a:rPr>
              <a:t>QUINTALYS  ·  by QUINTEXOR</a:t>
            </a:r>
          </a:p>
        </p:txBody>
      </p:sp>
    </p:spTree>
  </p:cSld>
  <p:clrMapOvr>
    <a:masterClrMapping/>
  </p:clrMapOvr>
  <p:timing>
    <p:tnLst>
      <p:par>
        <p:cTn id="1280" dur="indefinite" restart="whenNotActive" nodeType="tmRoot">
          <p:childTnLst>
            <p:seq concurrent="1" nextAc="seek">
              <p:cTn id="1281" dur="indefinite" nodeType="mainSeq">
                <p:childTnLst>
                  <p:par>
                    <p:cTn id="1252" fill="hold">
                      <p:stCondLst>
                        <p:cond delay="indefinite"/>
                      </p:stCondLst>
                      <p:childTnLst>
                        <p:par>
                          <p:cTn id="12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4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55" dur="1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6" fill="hold">
                      <p:stCondLst>
                        <p:cond delay="indefinite"/>
                      </p:stCondLst>
                      <p:childTnLst>
                        <p:par>
                          <p:cTn id="1257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59" dur="1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60" fill="hold">
                      <p:stCondLst>
                        <p:cond delay="indefinite"/>
                      </p:stCondLst>
                      <p:childTnLst>
                        <p:par>
                          <p:cTn id="1261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3" dur="1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64" fill="hold">
                      <p:stCondLst>
                        <p:cond delay="indefinite"/>
                      </p:stCondLst>
                      <p:childTnLst>
                        <p:par>
                          <p:cTn id="1265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6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7" dur="1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68" fill="hold">
                      <p:stCondLst>
                        <p:cond delay="indefinite"/>
                      </p:stCondLst>
                      <p:childTnLst>
                        <p:par>
                          <p:cTn id="1269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0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1" dur="12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2" fill="hold">
                      <p:stCondLst>
                        <p:cond delay="indefinite"/>
                      </p:stCondLst>
                      <p:childTnLst>
                        <p:par>
                          <p:cTn id="1273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5" dur="12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6" fill="hold">
                      <p:stCondLst>
                        <p:cond delay="indefinite"/>
                      </p:stCondLst>
                      <p:childTnLst>
                        <p:par>
                          <p:cTn id="1277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8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9" dur="12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2" grpId="0" uiExpand="1" build="p"/>
      <p:bldP spid="3" grpId="1" uiExpand="1" build="p"/>
      <p:bldP spid="4" grpId="2" uiExpand="1" build="p"/>
      <p:bldP spid="5" grpId="3" uiExpand="1" build="p"/>
      <p:bldP spid="6" grpId="4" uiExpand="1" build="p"/>
      <p:bldP spid="7" grpId="5" uiExpand="1" build="p"/>
      <p:bldP spid="8" grpId="6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